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271cd5f-0d80-32ab-5184-52603e523c16}">
          <p14:sldIdLst>
            <p14:sldId id="256"/>
          </p14:sldIdLst>
        </p14:section>
        <p14:section name="Data and method" id="{c4dd912f-bb64-82b8-4abe-d5cd72a07cab}">
          <p14:sldIdLst>
            <p14:sldId id="257"/>
            <p14:sldId id="258"/>
          </p14:sldIdLst>
        </p14:section>
        <p14:section name="Results" id="{951ed75c-3aa3-af11-abc1-45277b386db0}">
          <p14:sldIdLst>
            <p14:sldId id="259"/>
            <p14:sldId id="260"/>
            <p14:sldId id="261"/>
          </p14:sldIdLst>
        </p14:section>
        <p14:section name="Wrap-up" id="{a06f146e-ae29-b0c1-be1b-37cef1dde02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Byte-exact recovery vs SNR (dB per sample)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Frames recovered (%)</c:v>
                </c:pt>
              </c:strCache>
            </c:strRef>
          </c:tx>
          <c:spPr>
            <a:solidFill>
              <a:srgbClr val="14A38B"/>
            </a:solidFill>
            <a:ln w="38100" cap="flat">
              <a:solidFill>
                <a:srgbClr val="14A3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D3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A38B"/>
              </a:solidFill>
              <a:ln w="9525" cap="flat">
                <a:solidFill>
                  <a:srgbClr val="14A3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-6</c:v>
                  </c:pt>
                  <c:pt idx="1">
                    <c:v>-4</c:v>
                  </c:pt>
                  <c:pt idx="2">
                    <c:v>-2</c:v>
                  </c:pt>
                  <c:pt idx="3">
                    <c:v>0</c:v>
                  </c:pt>
                  <c:pt idx="4">
                    <c:v>2</c:v>
                  </c:pt>
                  <c:pt idx="5">
                    <c:v>4</c:v>
                  </c:pt>
                  <c:pt idx="6">
                    <c:v>6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9</c:v>
                </c:pt>
                <c:pt idx="2">
                  <c:v>66</c:v>
                </c:pt>
                <c:pt idx="3">
                  <c:v>98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D3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4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tests whether REAL satellite telemetry survives our simulated deep-space link. Every byte is checked against the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SatNOGS DB, one week of frames for one satellite (add its name). The cleanest beacon string, 3499492000005025000000, appears 21 times; the garbled ones are noisy copies from the stations' Morse decoders.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satnogs_frames.py. Step 2 mimics a spacecraft radio (CCSDS sync word 0x1ACFFC1D). Step 4 reuses pipeline.py: squaring/4th-power carrier tracking, re-acquisition with hysteresis, IQNet classification, differential demodulation.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Track 1 output: before/after spectral plot. Left = raw received signal carrying the real frames. Right = after autonomous carrier tracking, mixdown and matched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digital-link cliff: almost nothing below -4 dB, steep climb, flat near 99% from 0 dB. It tops out just under 100% because frames sent during the dropout cannot be recovered by any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= recovered byte-exact, red = lost. Times come from events.log. This shows the autonomy: the receiver notices each problem and recovers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back to the full pipeline: this part proves the decoded output is trustworthy; the observation part (friend) shows the front end on real radio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Track 1 · Part 3 · Real SatNOGS telemetry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satellite telemetry through our autonomous receiver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Track 1 · Part 3 · 861 real SatNOGS frames, one hostile channel, zero human tuning</a:t>
            </a:r>
            <a:endParaRPr lang="en-US" sz="1800" dirty="0"/>
          </a:p>
        </p:txBody>
      </p:sp>
      <p:sp>
        <p:nvSpPr>
          <p:cNvPr id="4" name="orbit dot 0"/>
          <p:cNvSpPr/>
          <p:nvPr/>
        </p:nvSpPr>
        <p:spPr>
          <a:xfrm>
            <a:off x="6949440" y="548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orbit dot 1"/>
          <p:cNvSpPr/>
          <p:nvPr/>
        </p:nvSpPr>
        <p:spPr>
          <a:xfrm>
            <a:off x="7772400" y="914400"/>
            <a:ext cx="502920" cy="502920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6" name="orbit dot 2"/>
          <p:cNvSpPr/>
          <p:nvPr/>
        </p:nvSpPr>
        <p:spPr>
          <a:xfrm>
            <a:off x="7406640" y="228600"/>
            <a:ext cx="274320" cy="274320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861 real frames from 27 ground stations</a:t>
            </a:r>
            <a:endParaRPr lang="en-US" sz="3000" dirty="0"/>
          </a:p>
        </p:txBody>
      </p:sp>
      <p:sp>
        <p:nvSpPr>
          <p:cNvPr id="3" name="stat card 0"/>
          <p:cNvSpPr/>
          <p:nvPr/>
        </p:nvSpPr>
        <p:spPr>
          <a:xfrm>
            <a:off x="45720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tat 0"/>
          <p:cNvSpPr txBox="1"/>
          <p:nvPr/>
        </p:nvSpPr>
        <p:spPr>
          <a:xfrm>
            <a:off x="59436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861</a:t>
            </a:r>
            <a:endParaRPr lang="en-US" sz="3400" dirty="0"/>
          </a:p>
        </p:txBody>
      </p:sp>
      <p:sp>
        <p:nvSpPr>
          <p:cNvPr id="5" name="stat label 0"/>
          <p:cNvSpPr txBox="1"/>
          <p:nvPr/>
        </p:nvSpPr>
        <p:spPr>
          <a:xfrm>
            <a:off x="594360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telemetry frames</a:t>
            </a:r>
            <a:endParaRPr lang="en-US" sz="1200" dirty="0"/>
          </a:p>
        </p:txBody>
      </p:sp>
      <p:sp>
        <p:nvSpPr>
          <p:cNvPr id="6" name="stat card 1"/>
          <p:cNvSpPr/>
          <p:nvPr/>
        </p:nvSpPr>
        <p:spPr>
          <a:xfrm>
            <a:off x="256032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stat 1"/>
          <p:cNvSpPr txBox="1"/>
          <p:nvPr/>
        </p:nvSpPr>
        <p:spPr>
          <a:xfrm>
            <a:off x="269748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8" name="stat label 1"/>
          <p:cNvSpPr txBox="1"/>
          <p:nvPr/>
        </p:nvSpPr>
        <p:spPr>
          <a:xfrm>
            <a:off x="2697480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ground stations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457200" y="283464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 2"/>
          <p:cNvSpPr txBox="1"/>
          <p:nvPr/>
        </p:nvSpPr>
        <p:spPr>
          <a:xfrm>
            <a:off x="594360" y="2971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3400" dirty="0"/>
          </a:p>
        </p:txBody>
      </p:sp>
      <p:sp>
        <p:nvSpPr>
          <p:cNvPr id="11" name="stat label 2"/>
          <p:cNvSpPr txBox="1"/>
          <p:nvPr/>
        </p:nvSpPr>
        <p:spPr>
          <a:xfrm>
            <a:off x="59436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observations</a:t>
            </a:r>
            <a:endParaRPr lang="en-US" sz="1200" dirty="0"/>
          </a:p>
        </p:txBody>
      </p:sp>
      <p:sp>
        <p:nvSpPr>
          <p:cNvPr id="12" name="stat card 3"/>
          <p:cNvSpPr/>
          <p:nvPr/>
        </p:nvSpPr>
        <p:spPr>
          <a:xfrm>
            <a:off x="2560320" y="283464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stat 3"/>
          <p:cNvSpPr txBox="1"/>
          <p:nvPr/>
        </p:nvSpPr>
        <p:spPr>
          <a:xfrm>
            <a:off x="2697480" y="2971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week</a:t>
            </a:r>
            <a:endParaRPr lang="en-US" sz="3400" dirty="0"/>
          </a:p>
        </p:txBody>
      </p:sp>
      <p:sp>
        <p:nvSpPr>
          <p:cNvPr id="14" name="stat label 3"/>
          <p:cNvSpPr txBox="1"/>
          <p:nvPr/>
        </p:nvSpPr>
        <p:spPr>
          <a:xfrm>
            <a:off x="2697480" y="3657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Sept 26 to Oct 3, 2026</a:t>
            </a:r>
            <a:endParaRPr lang="en-US" sz="1200" dirty="0"/>
          </a:p>
        </p:txBody>
      </p:sp>
      <p:sp>
        <p:nvSpPr>
          <p:cNvPr id="15" name="frame sample card"/>
          <p:cNvSpPr/>
          <p:nvPr/>
        </p:nvSpPr>
        <p:spPr>
          <a:xfrm>
            <a:off x="4846320" y="1234440"/>
            <a:ext cx="384048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/>
        </p:spPr>
      </p:sp>
      <p:sp>
        <p:nvSpPr>
          <p:cNvPr id="16" name="sample heading"/>
          <p:cNvSpPr txBox="1"/>
          <p:nvPr/>
        </p:nvSpPr>
        <p:spPr>
          <a:xfrm>
            <a:off x="50749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What a frame looks like</a:t>
            </a:r>
            <a:endParaRPr lang="en-US" sz="1400" dirty="0"/>
          </a:p>
        </p:txBody>
      </p:sp>
      <p:sp>
        <p:nvSpPr>
          <p:cNvPr id="17" name="sample frames"/>
          <p:cNvSpPr txBox="1"/>
          <p:nvPr/>
        </p:nvSpPr>
        <p:spPr>
          <a:xfrm>
            <a:off x="5074920" y="17830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 47 32 20 30 30 30 20 30 4E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G2 000 0N I TE25 000 TEOT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 33 34 39 39 34 39 32 30 30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3499492000005025000000</a:t>
            </a:r>
            <a:endParaRPr lang="en-US" sz="1100" dirty="0"/>
          </a:p>
        </p:txBody>
      </p:sp>
      <p:sp>
        <p:nvSpPr>
          <p:cNvPr id="18" name="sample caption"/>
          <p:cNvSpPr txBox="1"/>
          <p:nvPr/>
        </p:nvSpPr>
        <p:spPr>
          <a:xfrm>
            <a:off x="5074920" y="3291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CW (Morse) beacon frames decoded to text by SatNOGS stations. Original reception errors are kept as-is.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telemetry through a hostile channel</a:t>
            </a:r>
            <a:endParaRPr lang="en-US" sz="3000" dirty="0"/>
          </a:p>
        </p:txBody>
      </p:sp>
      <p:sp>
        <p:nvSpPr>
          <p:cNvPr id="3" name="step card 0"/>
          <p:cNvSpPr/>
          <p:nvPr/>
        </p:nvSpPr>
        <p:spPr>
          <a:xfrm>
            <a:off x="457200" y="1417320"/>
            <a:ext cx="1490472" cy="2514600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</p:sp>
      <p:sp>
        <p:nvSpPr>
          <p:cNvPr id="4" name="step circle 0"/>
          <p:cNvSpPr/>
          <p:nvPr/>
        </p:nvSpPr>
        <p:spPr>
          <a:xfrm>
            <a:off x="914400" y="1600200"/>
            <a:ext cx="576072" cy="5760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 0"/>
          <p:cNvSpPr txBox="1"/>
          <p:nvPr/>
        </p:nvSpPr>
        <p:spPr>
          <a:xfrm>
            <a:off x="914400" y="16002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head 0"/>
          <p:cNvSpPr txBox="1"/>
          <p:nvPr/>
        </p:nvSpPr>
        <p:spPr>
          <a:xfrm>
            <a:off x="566928" y="22860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 frames</a:t>
            </a:r>
            <a:endParaRPr lang="en-US" sz="1400" dirty="0"/>
          </a:p>
        </p:txBody>
      </p:sp>
      <p:sp>
        <p:nvSpPr>
          <p:cNvPr id="7" name="step desc 0"/>
          <p:cNvSpPr txBox="1"/>
          <p:nvPr/>
        </p:nvSpPr>
        <p:spPr>
          <a:xfrm>
            <a:off x="566928" y="2834640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861 SatNOGS frames, 9 to 63 bytes</a:t>
            </a:r>
            <a:endParaRPr lang="en-US" sz="1100" dirty="0"/>
          </a:p>
        </p:txBody>
      </p:sp>
      <p:sp>
        <p:nvSpPr>
          <p:cNvPr id="8" name="step card 1"/>
          <p:cNvSpPr/>
          <p:nvPr/>
        </p:nvSpPr>
        <p:spPr>
          <a:xfrm>
            <a:off x="2130552" y="1417320"/>
            <a:ext cx="1490472" cy="2514600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</p:sp>
      <p:sp>
        <p:nvSpPr>
          <p:cNvPr id="9" name="step circle 1"/>
          <p:cNvSpPr/>
          <p:nvPr/>
        </p:nvSpPr>
        <p:spPr>
          <a:xfrm>
            <a:off x="2587752" y="1600200"/>
            <a:ext cx="576072" cy="5760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 1"/>
          <p:cNvSpPr txBox="1"/>
          <p:nvPr/>
        </p:nvSpPr>
        <p:spPr>
          <a:xfrm>
            <a:off x="2587752" y="16002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head 1"/>
          <p:cNvSpPr txBox="1"/>
          <p:nvPr/>
        </p:nvSpPr>
        <p:spPr>
          <a:xfrm>
            <a:off x="2240280" y="22860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Frame them</a:t>
            </a:r>
            <a:endParaRPr lang="en-US" sz="1400" dirty="0"/>
          </a:p>
        </p:txBody>
      </p:sp>
      <p:sp>
        <p:nvSpPr>
          <p:cNvPr id="12" name="step desc 1"/>
          <p:cNvSpPr txBox="1"/>
          <p:nvPr/>
        </p:nvSpPr>
        <p:spPr>
          <a:xfrm>
            <a:off x="2240280" y="2834640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Add sync word, sequence, length and a CRC</a:t>
            </a:r>
            <a:endParaRPr lang="en-US" sz="1100" dirty="0"/>
          </a:p>
        </p:txBody>
      </p:sp>
      <p:sp>
        <p:nvSpPr>
          <p:cNvPr id="13" name="step card 2"/>
          <p:cNvSpPr/>
          <p:nvPr/>
        </p:nvSpPr>
        <p:spPr>
          <a:xfrm>
            <a:off x="3803904" y="1417320"/>
            <a:ext cx="1490472" cy="2514600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</p:sp>
      <p:sp>
        <p:nvSpPr>
          <p:cNvPr id="14" name="step circle 2"/>
          <p:cNvSpPr/>
          <p:nvPr/>
        </p:nvSpPr>
        <p:spPr>
          <a:xfrm>
            <a:off x="4261104" y="1600200"/>
            <a:ext cx="576072" cy="5760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tep num 2"/>
          <p:cNvSpPr txBox="1"/>
          <p:nvPr/>
        </p:nvSpPr>
        <p:spPr>
          <a:xfrm>
            <a:off x="4261104" y="16002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tep head 2"/>
          <p:cNvSpPr txBox="1"/>
          <p:nvPr/>
        </p:nvSpPr>
        <p:spPr>
          <a:xfrm>
            <a:off x="3913632" y="22860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Hostile channel</a:t>
            </a:r>
            <a:endParaRPr lang="en-US" sz="1400" dirty="0"/>
          </a:p>
        </p:txBody>
      </p:sp>
      <p:sp>
        <p:nvSpPr>
          <p:cNvPr id="17" name="step desc 2"/>
          <p:cNvSpPr txBox="1"/>
          <p:nvPr/>
        </p:nvSpPr>
        <p:spPr>
          <a:xfrm>
            <a:off x="3913632" y="2834640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Doppler drift, dropout, frequency hop, noise</a:t>
            </a:r>
            <a:endParaRPr lang="en-US" sz="1100" dirty="0"/>
          </a:p>
        </p:txBody>
      </p:sp>
      <p:sp>
        <p:nvSpPr>
          <p:cNvPr id="18" name="step card 3"/>
          <p:cNvSpPr/>
          <p:nvPr/>
        </p:nvSpPr>
        <p:spPr>
          <a:xfrm>
            <a:off x="5477256" y="1417320"/>
            <a:ext cx="1490472" cy="2514600"/>
          </a:xfrm>
          <a:prstGeom prst="roundRect">
            <a:avLst>
              <a:gd name="adj" fmla="val 7362"/>
            </a:avLst>
          </a:prstGeom>
          <a:solidFill>
            <a:schemeClr val="tx1"/>
          </a:solidFill>
          <a:ln/>
        </p:spPr>
      </p:sp>
      <p:sp>
        <p:nvSpPr>
          <p:cNvPr id="19" name="step circle 3"/>
          <p:cNvSpPr/>
          <p:nvPr/>
        </p:nvSpPr>
        <p:spPr>
          <a:xfrm>
            <a:off x="5934456" y="1600200"/>
            <a:ext cx="576072" cy="5760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 3"/>
          <p:cNvSpPr txBox="1"/>
          <p:nvPr/>
        </p:nvSpPr>
        <p:spPr>
          <a:xfrm>
            <a:off x="5934456" y="16002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tep head 3"/>
          <p:cNvSpPr txBox="1"/>
          <p:nvPr/>
        </p:nvSpPr>
        <p:spPr>
          <a:xfrm>
            <a:off x="5586984" y="22860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Autonomous receiver</a:t>
            </a:r>
            <a:endParaRPr lang="en-US" sz="1400" dirty="0"/>
          </a:p>
        </p:txBody>
      </p:sp>
      <p:sp>
        <p:nvSpPr>
          <p:cNvPr id="22" name="step desc 3"/>
          <p:cNvSpPr txBox="1"/>
          <p:nvPr/>
        </p:nvSpPr>
        <p:spPr>
          <a:xfrm>
            <a:off x="5586984" y="2834640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Track, re-acquire, classify (IQNet), demodulate</a:t>
            </a:r>
            <a:endParaRPr lang="en-US" sz="1100" dirty="0"/>
          </a:p>
        </p:txBody>
      </p:sp>
      <p:sp>
        <p:nvSpPr>
          <p:cNvPr id="23" name="step card 4"/>
          <p:cNvSpPr/>
          <p:nvPr/>
        </p:nvSpPr>
        <p:spPr>
          <a:xfrm>
            <a:off x="7150608" y="1417320"/>
            <a:ext cx="1490472" cy="2514600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</p:sp>
      <p:sp>
        <p:nvSpPr>
          <p:cNvPr id="24" name="step circle 4"/>
          <p:cNvSpPr/>
          <p:nvPr/>
        </p:nvSpPr>
        <p:spPr>
          <a:xfrm>
            <a:off x="7607808" y="1600200"/>
            <a:ext cx="576072" cy="5760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step num 4"/>
          <p:cNvSpPr txBox="1"/>
          <p:nvPr/>
        </p:nvSpPr>
        <p:spPr>
          <a:xfrm>
            <a:off x="7607808" y="16002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step head 4"/>
          <p:cNvSpPr txBox="1"/>
          <p:nvPr/>
        </p:nvSpPr>
        <p:spPr>
          <a:xfrm>
            <a:off x="7260336" y="22860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27" name="step desc 4"/>
          <p:cNvSpPr txBox="1"/>
          <p:nvPr/>
        </p:nvSpPr>
        <p:spPr>
          <a:xfrm>
            <a:off x="7260336" y="2834640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Check the CRC, then compare every byte</a:t>
            </a:r>
            <a:endParaRPr lang="en-US" sz="1100" dirty="0"/>
          </a:p>
        </p:txBody>
      </p:sp>
      <p:sp>
        <p:nvSpPr>
          <p:cNvPr id="28" name="method taglin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The receiver is never told the modulation, the frequency, or when the signal drops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receiver straightens a drifting signal</a:t>
            </a:r>
            <a:endParaRPr lang="en-US" sz="3000" dirty="0"/>
          </a:p>
        </p:txBody>
      </p:sp>
      <p:pic>
        <p:nvPicPr>
          <p:cNvPr id="3" name="spectrogram" descr="spectrogram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086100"/>
          </a:xfrm>
          <a:prstGeom prst="rect">
            <a:avLst/>
          </a:prstGeom>
        </p:spPr>
      </p:pic>
      <p:sp>
        <p:nvSpPr>
          <p:cNvPr id="4" name="spectrogram caption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Before: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Doppler curve, dropout at 8.7 s, hop at 14.4 s.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steady signal at 0 Hz for the whole pass.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 of real frames survive from 0 dB up</a:t>
            </a:r>
            <a:endParaRPr lang="en-US" sz="3000" dirty="0"/>
          </a:p>
        </p:txBody>
      </p:sp>
      <p:graphicFrame>
        <p:nvGraphicFramePr>
          <p:cNvPr id="3" name="snr chart" descr=""/>
          <p:cNvGraphicFramePr/>
          <p:nvPr/>
        </p:nvGraphicFramePr>
        <p:xfrm>
          <a:off x="457200" y="10972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0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5" name="result stat 0"/>
          <p:cNvSpPr txBox="1"/>
          <p:nvPr/>
        </p:nvSpPr>
        <p:spPr>
          <a:xfrm>
            <a:off x="6309360" y="12984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600" dirty="0"/>
          </a:p>
        </p:txBody>
      </p:sp>
      <p:sp>
        <p:nvSpPr>
          <p:cNvPr id="6" name="result label 0"/>
          <p:cNvSpPr txBox="1"/>
          <p:nvPr/>
        </p:nvSpPr>
        <p:spPr>
          <a:xfrm>
            <a:off x="6309360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854 of 861 frames recovered byte-exact at 2 dB</a:t>
            </a:r>
            <a:endParaRPr lang="en-US" sz="1200" dirty="0"/>
          </a:p>
        </p:txBody>
      </p:sp>
      <p:sp>
        <p:nvSpPr>
          <p:cNvPr id="7" name="result card 1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result stat 1"/>
          <p:cNvSpPr txBox="1"/>
          <p:nvPr/>
        </p:nvSpPr>
        <p:spPr>
          <a:xfrm>
            <a:off x="6309360" y="30358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600" dirty="0"/>
          </a:p>
        </p:txBody>
      </p:sp>
      <p:sp>
        <p:nvSpPr>
          <p:cNvPr id="9" name="result label 1"/>
          <p:cNvSpPr txBox="1"/>
          <p:nvPr/>
        </p:nvSpPr>
        <p:spPr>
          <a:xfrm>
            <a:off x="6309360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IQNet confidence the signal is BPSK, with no human input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line up with channel events</a:t>
            </a:r>
            <a:endParaRPr lang="en-US" sz="3000" dirty="0"/>
          </a:p>
        </p:txBody>
      </p:sp>
      <p:pic>
        <p:nvPicPr>
          <p:cNvPr id="3" name="frame recovery strip" descr="frame_re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1481328"/>
          </a:xfrm>
          <a:prstGeom prst="rect">
            <a:avLst/>
          </a:prstGeom>
        </p:spPr>
      </p:pic>
      <p:sp>
        <p:nvSpPr>
          <p:cNvPr id="4" name="event card 0"/>
          <p:cNvSpPr/>
          <p:nvPr/>
        </p:nvSpPr>
        <p:spPr>
          <a:xfrm>
            <a:off x="457200" y="2743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event dot 0"/>
          <p:cNvSpPr/>
          <p:nvPr/>
        </p:nvSpPr>
        <p:spPr>
          <a:xfrm>
            <a:off x="594360" y="28803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event time 0"/>
          <p:cNvSpPr txBox="1"/>
          <p:nvPr/>
        </p:nvSpPr>
        <p:spPr>
          <a:xfrm>
            <a:off x="978408" y="2862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0.0 s</a:t>
            </a:r>
            <a:endParaRPr lang="en-US" sz="1300" dirty="0"/>
          </a:p>
        </p:txBody>
      </p:sp>
      <p:sp>
        <p:nvSpPr>
          <p:cNvPr id="7" name="event head 0"/>
          <p:cNvSpPr txBox="1"/>
          <p:nvPr/>
        </p:nvSpPr>
        <p:spPr>
          <a:xfrm>
            <a:off x="5943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Acquired</a:t>
            </a:r>
            <a:endParaRPr lang="en-US" sz="1600" dirty="0"/>
          </a:p>
        </p:txBody>
      </p:sp>
      <p:sp>
        <p:nvSpPr>
          <p:cNvPr id="8" name="event desc 0"/>
          <p:cNvSpPr txBox="1"/>
          <p:nvPr/>
        </p:nvSpPr>
        <p:spPr>
          <a:xfrm>
            <a:off x="59436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Carrier found at +1509 Hz</a:t>
            </a:r>
            <a:endParaRPr lang="en-US" sz="1200" dirty="0"/>
          </a:p>
        </p:txBody>
      </p:sp>
      <p:sp>
        <p:nvSpPr>
          <p:cNvPr id="9" name="event card 1"/>
          <p:cNvSpPr/>
          <p:nvPr/>
        </p:nvSpPr>
        <p:spPr>
          <a:xfrm>
            <a:off x="2560320" y="2743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event dot 1"/>
          <p:cNvSpPr/>
          <p:nvPr/>
        </p:nvSpPr>
        <p:spPr>
          <a:xfrm>
            <a:off x="2697480" y="288036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event time 1"/>
          <p:cNvSpPr txBox="1"/>
          <p:nvPr/>
        </p:nvSpPr>
        <p:spPr>
          <a:xfrm>
            <a:off x="3081528" y="2862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8.7 s</a:t>
            </a:r>
            <a:endParaRPr lang="en-US" sz="1300" dirty="0"/>
          </a:p>
        </p:txBody>
      </p:sp>
      <p:sp>
        <p:nvSpPr>
          <p:cNvPr id="12" name="event head 1"/>
          <p:cNvSpPr txBox="1"/>
          <p:nvPr/>
        </p:nvSpPr>
        <p:spPr>
          <a:xfrm>
            <a:off x="26974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Dropout</a:t>
            </a:r>
            <a:endParaRPr lang="en-US" sz="1600" dirty="0"/>
          </a:p>
        </p:txBody>
      </p:sp>
      <p:sp>
        <p:nvSpPr>
          <p:cNvPr id="13" name="event desc 1"/>
          <p:cNvSpPr txBox="1"/>
          <p:nvPr/>
        </p:nvSpPr>
        <p:spPr>
          <a:xfrm>
            <a:off x="269748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Frames 261 to 264 lost, re-acquired 0.13 s later</a:t>
            </a:r>
            <a:endParaRPr lang="en-US" sz="1200" dirty="0"/>
          </a:p>
        </p:txBody>
      </p:sp>
      <p:sp>
        <p:nvSpPr>
          <p:cNvPr id="14" name="event card 2"/>
          <p:cNvSpPr/>
          <p:nvPr/>
        </p:nvSpPr>
        <p:spPr>
          <a:xfrm>
            <a:off x="4663440" y="2743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5" name="event dot 2"/>
          <p:cNvSpPr/>
          <p:nvPr/>
        </p:nvSpPr>
        <p:spPr>
          <a:xfrm>
            <a:off x="4800600" y="28803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event time 2"/>
          <p:cNvSpPr txBox="1"/>
          <p:nvPr/>
        </p:nvSpPr>
        <p:spPr>
          <a:xfrm>
            <a:off x="5184648" y="2862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14.4 s</a:t>
            </a:r>
            <a:endParaRPr lang="en-US" sz="1300" dirty="0"/>
          </a:p>
        </p:txBody>
      </p:sp>
      <p:sp>
        <p:nvSpPr>
          <p:cNvPr id="17" name="event head 2"/>
          <p:cNvSpPr txBox="1"/>
          <p:nvPr/>
        </p:nvSpPr>
        <p:spPr>
          <a:xfrm>
            <a:off x="480060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Hop</a:t>
            </a:r>
            <a:endParaRPr lang="en-US" sz="1600" dirty="0"/>
          </a:p>
        </p:txBody>
      </p:sp>
      <p:sp>
        <p:nvSpPr>
          <p:cNvPr id="18" name="event desc 2"/>
          <p:cNvSpPr txBox="1"/>
          <p:nvPr/>
        </p:nvSpPr>
        <p:spPr>
          <a:xfrm>
            <a:off x="480060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Frames 438 to 439 lost, re-acquired at once</a:t>
            </a:r>
            <a:endParaRPr lang="en-US" sz="1200" dirty="0"/>
          </a:p>
        </p:txBody>
      </p:sp>
      <p:sp>
        <p:nvSpPr>
          <p:cNvPr id="19" name="event card 3"/>
          <p:cNvSpPr/>
          <p:nvPr/>
        </p:nvSpPr>
        <p:spPr>
          <a:xfrm>
            <a:off x="6766560" y="2743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0" name="event dot 3"/>
          <p:cNvSpPr/>
          <p:nvPr/>
        </p:nvSpPr>
        <p:spPr>
          <a:xfrm>
            <a:off x="6903720" y="288036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event time 3"/>
          <p:cNvSpPr txBox="1"/>
          <p:nvPr/>
        </p:nvSpPr>
        <p:spPr>
          <a:xfrm>
            <a:off x="7287768" y="2862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28.8 s</a:t>
            </a:r>
            <a:endParaRPr lang="en-US" sz="1300" dirty="0"/>
          </a:p>
        </p:txBody>
      </p:sp>
      <p:sp>
        <p:nvSpPr>
          <p:cNvPr id="22" name="event head 3"/>
          <p:cNvSpPr txBox="1"/>
          <p:nvPr/>
        </p:nvSpPr>
        <p:spPr>
          <a:xfrm>
            <a:off x="69037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Classified</a:t>
            </a:r>
            <a:endParaRPr lang="en-US" sz="1600" dirty="0"/>
          </a:p>
        </p:txBody>
      </p:sp>
      <p:sp>
        <p:nvSpPr>
          <p:cNvPr id="23" name="event desc 3"/>
          <p:cNvSpPr txBox="1"/>
          <p:nvPr/>
        </p:nvSpPr>
        <p:spPr>
          <a:xfrm>
            <a:off x="690372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IQNet: BPSK, 95% confident</a:t>
            </a:r>
            <a:endParaRPr lang="en-US" sz="1200" dirty="0"/>
          </a:p>
        </p:txBody>
      </p:sp>
      <p:sp>
        <p:nvSpPr>
          <p:cNvPr id="24" name="loss note"/>
          <p:cNvSpPr txBox="1"/>
          <p:nvPr/>
        </p:nvSpPr>
        <p:spPr>
          <a:xfrm>
            <a:off x="45720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The single other loss (frame 772) is random noise, expected now and then at 2 dB.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rap 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shows, and what's next</a:t>
            </a:r>
            <a:endParaRPr lang="en-US" sz="3000" dirty="0"/>
          </a:p>
        </p:txBody>
      </p:sp>
      <p:sp>
        <p:nvSpPr>
          <p:cNvPr id="3" name="wrap dot 0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wrap head 0"/>
          <p:cNvSpPr txBox="1"/>
          <p:nvPr/>
        </p:nvSpPr>
        <p:spPr>
          <a:xfrm>
            <a:off x="100584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Shows</a:t>
            </a:r>
            <a:endParaRPr lang="en-US" sz="2000" dirty="0"/>
          </a:p>
        </p:txBody>
      </p:sp>
      <p:sp>
        <p:nvSpPr>
          <p:cNvPr id="5" name="wrap list 0"/>
          <p:cNvSpPr txBox="1"/>
          <p:nvPr/>
        </p:nvSpPr>
        <p:spPr>
          <a:xfrm>
            <a:off x="64008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Real telemetry is delivered byte-for-byte through drift, dropouts and hops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Fully autonomous: no tuning, no modulation hint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 RadioML-trained CNN works inside the live receiver</a:t>
            </a:r>
            <a:endParaRPr lang="en-US" sz="1500" dirty="0"/>
          </a:p>
        </p:txBody>
      </p:sp>
      <p:sp>
        <p:nvSpPr>
          <p:cNvPr id="6" name="wrap dot 1"/>
          <p:cNvSpPr/>
          <p:nvPr/>
        </p:nvSpPr>
        <p:spPr>
          <a:xfrm>
            <a:off x="4663440" y="137160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wrap head 1"/>
          <p:cNvSpPr txBox="1"/>
          <p:nvPr/>
        </p:nvSpPr>
        <p:spPr>
          <a:xfrm>
            <a:off x="512064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Limits and next steps</a:t>
            </a:r>
            <a:endParaRPr lang="en-US" sz="2000" dirty="0"/>
          </a:p>
        </p:txBody>
      </p:sp>
      <p:sp>
        <p:nvSpPr>
          <p:cNvPr id="8" name="wrap list 1"/>
          <p:cNvSpPr txBox="1"/>
          <p:nvPr/>
        </p:nvSpPr>
        <p:spPr>
          <a:xfrm>
            <a:off x="475488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Channel is simulated, not real RF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Frames are CW text: we test delivery, not this satellite's field decoding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Next: real BPSK recordings and satellite-specific decoders</a:t>
            </a:r>
            <a:endParaRPr lang="en-US" sz="15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ep Space Link">
  <a:themeElements>
    <a:clrScheme name="Deep Space Link">
      <a:dk1>
        <a:srgbClr val="0B1D3A"/>
      </a:dk1>
      <a:lt1>
        <a:srgbClr val="FFFFFF"/>
      </a:lt1>
      <a:dk2>
        <a:srgbClr val="1F3B63"/>
      </a:dk2>
      <a:lt2>
        <a:srgbClr val="EEF3F8"/>
      </a:lt2>
      <a:accent1>
        <a:srgbClr val="14A38B"/>
      </a:accent1>
      <a:accent2>
        <a:srgbClr val="F2A541"/>
      </a:accent2>
      <a:accent3>
        <a:srgbClr val="5B7BA6"/>
      </a:accent3>
      <a:accent4>
        <a:srgbClr val="C94F4F"/>
      </a:accent4>
      <a:accent5>
        <a:srgbClr val="8FA9C8"/>
      </a:accent5>
      <a:accent6>
        <a:srgbClr val="2BD9A0"/>
      </a:accent6>
      <a:hlink>
        <a:srgbClr val="14A38B"/>
      </a:hlink>
      <a:folHlink>
        <a:srgbClr val="5B7BA6"/>
      </a:folHlink>
    </a:clrScheme>
    <a:fontScheme name="Deep Space L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SatNOGS telemetry through an autonomous receiver</dc:title>
  <dc:subject>PptxGenJS Presentation</dc:subject>
  <dc:creator>PptxGenJS</dc:creator>
  <cp:lastModifiedBy>PptxGenJS</cp:lastModifiedBy>
  <cp:revision>1</cp:revision>
  <dcterms:created xsi:type="dcterms:W3CDTF">2026-10-03T18:50:03Z</dcterms:created>
  <dcterms:modified xsi:type="dcterms:W3CDTF">2026-10-03T18:50:03Z</dcterms:modified>
</cp:coreProperties>
</file>