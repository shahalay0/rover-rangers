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58b06ca-40a9-f4e9-4fd2-aa7cff069490}">
          <p14:sldIdLst>
            <p14:sldId id="256"/>
            <p14:sldId id="257"/>
          </p14:sldIdLst>
        </p14:section>
        <p14:section name="Part 1: Modulation classification and blind Doppler correction" id="{e77f0401-8dfc-d46a-479b-40cb9d93e2fb}">
          <p14:sldIdLst>
            <p14:sldId id="258"/>
            <p14:sldId id="259"/>
            <p14:sldId id="260"/>
            <p14:sldId id="261"/>
            <p14:sldId id="262"/>
            <p14:sldId id="263"/>
            <p14:sldId id="264"/>
            <p14:sldId id="265"/>
            <p14:sldId id="266"/>
            <p14:sldId id="267"/>
            <p14:sldId id="268"/>
            <p14:sldId id="269"/>
            <p14:sldId id="270"/>
            <p14:sldId id="271"/>
          </p14:sldIdLst>
        </p14:section>
        <p14:section name="Part 2: Blind deep-space receiver" id="{1bfccaf0-9858-5f5b-d856-7b2c32030c90}">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Part 3: Real telemetry frames through a hostile channel" id="{a0b98096-eafa-5b87-6474-ff06f0811754}">
          <p14:sldIdLst>
            <p14:sldId id="296"/>
            <p14:sldId id="297"/>
            <p14:sldId id="298"/>
            <p14:sldId id="299"/>
            <p14:sldId id="300"/>
            <p14:sldId id="301"/>
            <p14:sldId id="302"/>
            <p14:sldId id="303"/>
          </p14:sldIdLst>
        </p14:section>
        <p14:section name="Part 4: Decoding a real satellite pass" id="{802fd43a-dcf3-f1a1-70be-810e7acda9f3}">
          <p14:sldIdLst>
            <p14:sldId id="304"/>
            <p14:sldId id="305"/>
            <p14:sldId id="306"/>
            <p14:sldId id="307"/>
            <p14:sldId id="308"/>
            <p14:sldId id="309"/>
            <p14:sldId id="310"/>
            <p14:sldId id="311"/>
            <p14:sldId id="312"/>
            <p14:sldId id="313"/>
            <p14:sldId id="314"/>
          </p14:sldIdLst>
        </p14:section>
        <p14:section name="Conclusion" id="{3fa9cfbc-c42d-bd82-93ff-e69deec4aaca}">
          <p14:sldIdLst>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member built one part of Track 1. The four parts are presented separately, exactly as each member made them, followed by one conclusion that brings together what was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goes from simulated benchmarks to real satellite data: first identifying and correcting signals on RadioML, then a full blind receiver with error-correcting code, then real telemetry through a hostile channel, and finally a real satellite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1. The following slides are this part's original deck,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receiver that identifies the modulation of weak, drifting radio signals and removes Doppler offset on its own, with no human tuning. Everything is trained and tested on RadioML, with a pipeline ready for real SatNOGS satellite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asks us to find, clean and decode weak signals with no human tuning. Finding means identifying the modulation, cleaning means removing impairments like Doppler. We completed find and clean; decode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RadioML is a benchmark of simulated radio signals with realistic impairments. The 11 modulations fall into four families depending on whether they change phase, amplitude, frequency, or carry analog audio. Each example is only 128 samples, which matters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treat I and Q as two channels of a time series. Modulations differ in short waveform patterns, convolution detects them anywhere in the window, and the model learns from raw samples with no hand-crafted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on 33,000 held-out examples. Below about −12 dB nothing can be recovered; accuracy climbs between −10 and 0 dB and plateaus at about 88%. Training on the full dataset instead of a 20% smoke test lifted the plateau from 80% to 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at SNR at or above 0 dB is nearly diagonal. The two remaining confusions are explained by the data: too few symbols to separate QAM16 from QAM64, and silent audio that makes WBFM and AM-DSB identical. At low SNR the model uses AM-SSB as its no-signal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classifier trained without Doppler fails on a moving transmitter. The offset rotates the constellation over time. Because we injected the offset ourselves, we know the true value and can measure exactly how well we remove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trusting the first, confused prediction, the receiver tries both corrections, reclassifies each, and accepts a correction only if the new prediction agrees with the hypothesis, for example M equals 4 and the model now says QPSK. This uses no true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is our fully blind receiver, red dotted is the oracle that cheats by using the true class. They overlap: the blind version reaches 96.7% for BPSK, PAM4 and QPSK, slightly above the oracle, at a cost of only 1.2 points on other classes. The gap that remains on the left is classes we don't correct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injected the Doppler ourselves, every estimate is checked against the true value. On RadioML 2018 we confirmed that longer windows make blind estimation reliable for QPSK and 16QAM; 8PSK still needs symbol timing recovery. Noise can only be reduced, and we have not measured bit error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harder 24-class benchmark with 1024-sample windows, the same kind of CNN reaches 84% at high SNR using only 10% of the data and 8 minutes of training. Longer windows fix the confusions we saw before: QAM16 and 8PSK are now classified perfectly. Published models on the full data reach about 95%, so there is room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simplified CCSDS-style frame: the standard sync word 1ACFFC1D, a length byte, the message and a CRC-16 checksum. We sent commands and telemetry through a link with an unknown Doppler shift. The receiver estimated the Doppler blindly, used a matched filter, recovered timing and phase, found the sync word and decoded the text. At 0 dB, where the signal looks like pure noise, 8 of 9 frames came through exactly; in the ninth, noise flipped one bit and the CRC rejected the frame, exactly as a spacecraft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is ready for real data. Next steps are running Doppler-robust training, scaling RadioML 2018 to the full dataset, real SatNOGS recordings, and validating our blind Doppler track against orbit predictions and decoded telemetry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2. The following slides are this part's original deck,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deep-space receiver gets a weak, distorted signal and must recover the data on its own. We built one that finds the signal, identifies its modulation with a neural network, removes timing, Doppler and phase errors, and decodes it with the Voyager error-correcting code, with no hand-tuned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 knows nothing about the signal except the standard sync marker real spacecraft frames start with. Weak, rotating, unaligned and unidentified: each of the next sections removes one of these unknowns.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Each stage measures what it needs from the data: the noise floor, the sampling phase, the frequency offset, the rotation. The headline numbers here are each backed by a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RadioML 2016.10A by DeepSig: synthetic signals from GNU Radio with realistic impairments. Each example is 128 complex samples. The I/Q traces on the left show the same modulation getting buried as SNR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Plotting one clean example per class: the shapes differ, which is why a classifier can work. Two pairs already look alike here, QAM16/QAM64 and AM-DSB/WBFM; they come back in the confusion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1D convolutional network over the raw I/Q samples. We trained it on 154,000 examples. The best validation accuracy across all SNRs was 54.4%. One practical hurdle: cuDNN was pathologically slow on this GPU for 1D convolutions, which we diagnosed with a step-by-step timing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−12 dB nothing can be identified, as expected. Between −10 and −2 dB accuracy climbs steeply. Above +2 dB it plateaus around 80%: more signal does not help, so the remaining errors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SNR of 10 dB and above, nine classes are 90 to 100% correct. The two highlighted cells account for almost all remaining errors, and both have physical explanations rather than being model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shift check: the model only ever saw RadioML, yet it recognises our own transmitter. The one fix needed was matching the signal power to the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score decoding we need ground-truth bits, so we built our own transmitter. Left: all samples look messy because most are taken between symbols. Middle: sampled at the right instants, the four QPSK points are exact. That's why timing recovery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perfect synchronisation, our measured bit error rate matches the textbook QPSK formula at every SNR. This is the target the blind receiver has to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correct sampling instant the pulse is at its peak, so average energy is highest. The energy curve is shallow but the error curve is steep, so averaging over many symbols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each sample to the 4th power maps all four QPSK points to the same angle, removing the data. What remains rotates at four times the offset frequency. Here the phase was fitted with a line; the final receiver uses a grid search over candidate offsets instead, which can't slip at low SNR.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removing the rotation, QPSK still looks identical when turned by 90 degrees, so we can't know which corner is which. The sync word at the start of the frame tells us: only one rotation matches all 32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noise floor is measured from the quietest 10% of blocks, and a burst is anything clearly above it, with a safety margin. Then we slide the CCSDS sync marker along the symbols. An earlier periodic sync word gave false peaks when combined with rotation; the CCSDS marker was designed to avoid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random trials per point; the receiver knows nothing but the sync marker. It stays within a fraction of a dB of the textbook curve. The remaining gap at high SNR is because we sample at whole-sample instants.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every bit three times only looks good if you secretly spend three times the energy. With a fair energy budget it gives nothing. That motivated a real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output bit mixes seven input bits, so every message bit is protected by up to 14 code bits. The Viterbi decoder keeps the best path for each of the 64 encoder states, summing soft confidences. Above about 5 dB it beats uncoded transmission by orders of magnitude, at equal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unknown arrival, delay, Doppler and phase, plus the code. At 7 and 8 dB the coded link had zero errors in 18,000 bits; points with zero errors can't be drawn on a log axis, so they're stated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134-character message sent twice with the same energy budget. Without coding, 16 bit errors corrupt letters. With the Voyager code it arrives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 demo_full.py: one recording in, the decoded message out, with every intermediate step shown. The cleaned constellation still looks foggy, yet the message is decoded with zero errors because the code adds up evidence across many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one demodulator, simulated channels, a simple Doppler model. Each has a clear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and method references, and where to find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3. The following slides are this part's original deck,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tests whether REAL satellite telemetry survives our simulated deep-space link. Every byte is checked against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SatNOGS DB, one week of frames for one satellite (add its name). The cleanest beacon string, 3499492000005025000000, appears 21 times; the garbled ones are noisy copies from the stations' Morse decoders.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satnogs_frames.py. Step 2 mimics a spacecraft radio (CCSDS sync word 0x1ACFFC1D). Step 4 reuses pipeline.py: squaring/4th-power carrier tracking, re-acquisition with hysteresis, IQNet classification, differential demodulation.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Track 1 output: before/after spectral plot. Left = raw received signal carrying the real frames. Right = after autonomous carrier tracking, mixdown and matched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digital-link cliff: almost nothing below -4 dB, steep climb, flat near 99% from 0 dB. It tops out just under 100% because frames sent during the dropout cannot be recovered by any receiver.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 recovered byte-exact, red = lost. Times come from events.log. This shows the autonomy: the receiver notices each problem and recovers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linking back to the full pipeline: this part proves the decoded output is trustworthy; the observation part (friend) shows the front end on real radio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Part 4. The following slides are this part's original deck,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our receiver decoded 71 real telemetry packets from a real satellite pass recorded by a SatNOGS ground station, with no manual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 vs 50 is a count comparison only; a frame-by-frame comparison needs the SatNOGS DB export. The 67 of 75 figure uses byte 4 of the main packet type, which increments by one per packet, so gaps show exactly which packets were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SatNOGS observation 15110269. Only the audio was used; IQ was not offered for this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receiver design as our simulated pipeline: acquire, synchronize, frame,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spectrogram with decoded packets in red. Bottom: tone-band energy relative to noise. The burst counter shows 117 because the continuous section crosses the threshold many times; the decoded frame count (71) is the real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Track 1 output: before/after spectral plot. Before: flat noise floor everywhere. After: only the 700–2700 Hz band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Byte 4 of every main packet increases by exactly one, so it works as a sequence counter. This gives a completeness check without needing SatNOGS' frame list. Note: the counter interpretation is inferred from the data, not from satellite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autonomy argument: parameters that suit one station fail on another, so the agent tries several and lets the CRC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Track 1 output: telemetry log. The sender callsign JS1YRU is consistent across all 71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judges value honest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is summarized with its own results; numbers are not combined across parts because each used its own models and test conditions. Part 1 built the classifier and blind Doppler correction on RadioML, including the 24-class RadioML 2018 benchmark and a command-decoding demo. Part 2 built a complete blind receiver that tracks the theoretical error limit and decodes with the Voyager code. Part 3 delivered 861 real SatNOGS frames byte-for-byte through a hostile simulated channel. Part 4 decoded a real OrigamiSat-2 pass, with every packet CRC-checked. Together they cover the whole Track 1 problem: find, identify, clean and decode weak signals with no human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r>
              <a:rPr lang="en-US" sz="3600" b="1" dirty="0">
                <a:solidFill>
                  <a:schemeClr val="bg1"/>
                </a:solidFill>
                <a:latin typeface="Cambria" pitchFamily="34" charset="0"/>
                <a:ea typeface="Cambria" pitchFamily="34" charset="-122"/>
                <a:cs typeface="Cambria" pitchFamily="34" charset="-120"/>
              </a:rPr>
              <a:t>Title</a:t>
            </a: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r>
              <a:rPr lang="en-US" sz="2400" b="1" dirty="0">
                <a:solidFill>
                  <a:schemeClr val="tx1"/>
                </a:solidFill>
                <a:latin typeface="Cambria" pitchFamily="34" charset="0"/>
                <a:ea typeface="Cambria" pitchFamily="34" charset="-122"/>
                <a:cs typeface="Cambria" pitchFamily="34" charset="-120"/>
              </a:rPr>
              <a:t>Title</a:t>
            </a:r>
            <a:endParaRPr lang="en-US" sz="24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chemeClr val="accent5"/>
                </a:solidFill>
              </a:rPr>
              <a:t>Team Rover Rangers  ·  Track 1: Deep-Space Communication &amp; Signal Intelligence</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IC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Four parts, one autonomous receiver</a:t>
            </a:r>
            <a:endParaRPr lang="en-US" sz="3600" dirty="0"/>
          </a:p>
        </p:txBody>
      </p:sp>
      <p:sp>
        <p:nvSpPr>
          <p:cNvPr id="3" name="subtitle"/>
          <p:cNvSpPr txBox="1"/>
          <p:nvPr/>
        </p:nvSpPr>
        <p:spPr>
          <a:xfrm>
            <a:off x="548640" y="2606040"/>
            <a:ext cx="8046720" cy="457200"/>
          </a:xfrm>
          <a:prstGeom prst="rect">
            <a:avLst/>
          </a:prstGeom>
          <a:noFill/>
          <a:ln/>
        </p:spPr>
        <p:txBody>
          <a:bodyPr wrap="square" lIns="0" tIns="0" rIns="0" bIns="0" rtlCol="0" anchor="ctr"/>
          <a:lstStyle/>
          <a:p>
            <a:pPr indent="0" marL="0">
              <a:buNone/>
            </a:pPr>
            <a:r>
              <a:rPr lang="en-US" sz="1800" dirty="0">
                <a:solidFill>
                  <a:schemeClr val="accent1"/>
                </a:solidFill>
              </a:rPr>
              <a:t>Track 1 (Advanced): Deep-Space Communication &amp; Signal Intelligence</a:t>
            </a:r>
            <a:endParaRPr lang="en-US" sz="1800" dirty="0"/>
          </a:p>
        </p:txBody>
      </p:sp>
      <p:sp>
        <p:nvSpPr>
          <p:cNvPr id="4" name="event line"/>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chemeClr val="accent5"/>
                </a:solidFill>
              </a:rPr>
              <a:t>Team Rover Rangers  ·  MATLAB in Space Hackathon  ·  October 3,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Four parts of Track 1</a:t>
            </a:r>
            <a:endParaRPr lang="en-US" sz="2400" dirty="0"/>
          </a:p>
        </p:txBody>
      </p:sp>
      <p:sp>
        <p:nvSpPr>
          <p:cNvPr id="3" name="agenda 1 card"/>
          <p:cNvSpPr/>
          <p:nvPr/>
        </p:nvSpPr>
        <p:spPr>
          <a:xfrm>
            <a:off x="457200" y="1051560"/>
            <a:ext cx="8229600" cy="731520"/>
          </a:xfrm>
          <a:prstGeom prst="roundRect">
            <a:avLst>
              <a:gd name="adj" fmla="val 10000"/>
            </a:avLst>
          </a:prstGeom>
          <a:solidFill>
            <a:schemeClr val="bg2"/>
          </a:solidFill>
          <a:ln/>
        </p:spPr>
      </p:sp>
      <p:sp>
        <p:nvSpPr>
          <p:cNvPr id="4" name="agenda 1 badge"/>
          <p:cNvSpPr/>
          <p:nvPr/>
        </p:nvSpPr>
        <p:spPr>
          <a:xfrm>
            <a:off x="640080" y="1225296"/>
            <a:ext cx="384048" cy="384048"/>
          </a:xfrm>
          <a:prstGeom prst="ellipse">
            <a:avLst/>
          </a:prstGeom>
          <a:solidFill>
            <a:schemeClr val="accent1"/>
          </a:solidFill>
          <a:ln/>
        </p:spPr>
      </p:sp>
      <p:sp>
        <p:nvSpPr>
          <p:cNvPr id="5" name="agenda 1 badge num"/>
          <p:cNvSpPr txBox="1"/>
          <p:nvPr/>
        </p:nvSpPr>
        <p:spPr>
          <a:xfrm>
            <a:off x="640080" y="122529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agenda 1 title"/>
          <p:cNvSpPr txBox="1"/>
          <p:nvPr/>
        </p:nvSpPr>
        <p:spPr>
          <a:xfrm>
            <a:off x="1234440" y="1115568"/>
            <a:ext cx="7223760" cy="329184"/>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Modulation classification and blind Doppler correction</a:t>
            </a:r>
            <a:endParaRPr lang="en-US" sz="1600" dirty="0"/>
          </a:p>
        </p:txBody>
      </p:sp>
      <p:sp>
        <p:nvSpPr>
          <p:cNvPr id="7" name="agenda 1 scope"/>
          <p:cNvSpPr txBox="1"/>
          <p:nvPr/>
        </p:nvSpPr>
        <p:spPr>
          <a:xfrm>
            <a:off x="1234440" y="1444752"/>
            <a:ext cx="7223760" cy="274320"/>
          </a:xfrm>
          <a:prstGeom prst="rect">
            <a:avLst/>
          </a:prstGeom>
          <a:noFill/>
          <a:ln/>
        </p:spPr>
        <p:txBody>
          <a:bodyPr wrap="square" lIns="0" tIns="0" rIns="0" bIns="0" rtlCol="0" anchor="t"/>
          <a:lstStyle/>
          <a:p>
            <a:pPr indent="0" marL="0">
              <a:buNone/>
            </a:pPr>
            <a:r>
              <a:rPr lang="en-US" sz="1200" dirty="0">
                <a:solidFill>
                  <a:schemeClr val="tx2"/>
                </a:solidFill>
              </a:rPr>
              <a:t>RadioML classifier, blind Doppler correction, RadioML 2018 and a command-decoding demo</a:t>
            </a:r>
            <a:endParaRPr lang="en-US" sz="1200" dirty="0"/>
          </a:p>
        </p:txBody>
      </p:sp>
      <p:sp>
        <p:nvSpPr>
          <p:cNvPr id="8" name="agenda 2 card"/>
          <p:cNvSpPr/>
          <p:nvPr/>
        </p:nvSpPr>
        <p:spPr>
          <a:xfrm>
            <a:off x="457200" y="1920240"/>
            <a:ext cx="8229600" cy="731520"/>
          </a:xfrm>
          <a:prstGeom prst="roundRect">
            <a:avLst>
              <a:gd name="adj" fmla="val 10000"/>
            </a:avLst>
          </a:prstGeom>
          <a:solidFill>
            <a:schemeClr val="bg2"/>
          </a:solidFill>
          <a:ln/>
        </p:spPr>
      </p:sp>
      <p:sp>
        <p:nvSpPr>
          <p:cNvPr id="9" name="agenda 2 badge"/>
          <p:cNvSpPr/>
          <p:nvPr/>
        </p:nvSpPr>
        <p:spPr>
          <a:xfrm>
            <a:off x="640080" y="2093976"/>
            <a:ext cx="384048" cy="384048"/>
          </a:xfrm>
          <a:prstGeom prst="ellipse">
            <a:avLst/>
          </a:prstGeom>
          <a:solidFill>
            <a:schemeClr val="accent1"/>
          </a:solidFill>
          <a:ln/>
        </p:spPr>
      </p:sp>
      <p:sp>
        <p:nvSpPr>
          <p:cNvPr id="10" name="agenda 2 badge num"/>
          <p:cNvSpPr txBox="1"/>
          <p:nvPr/>
        </p:nvSpPr>
        <p:spPr>
          <a:xfrm>
            <a:off x="640080" y="209397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agenda 2 title"/>
          <p:cNvSpPr txBox="1"/>
          <p:nvPr/>
        </p:nvSpPr>
        <p:spPr>
          <a:xfrm>
            <a:off x="1234440" y="1984248"/>
            <a:ext cx="7223760" cy="329184"/>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Blind deep-space receiver</a:t>
            </a:r>
            <a:endParaRPr lang="en-US" sz="1600" dirty="0"/>
          </a:p>
        </p:txBody>
      </p:sp>
      <p:sp>
        <p:nvSpPr>
          <p:cNvPr id="12" name="agenda 2 scope"/>
          <p:cNvSpPr txBox="1"/>
          <p:nvPr/>
        </p:nvSpPr>
        <p:spPr>
          <a:xfrm>
            <a:off x="1234440" y="2313432"/>
            <a:ext cx="7223760" cy="274320"/>
          </a:xfrm>
          <a:prstGeom prst="rect">
            <a:avLst/>
          </a:prstGeom>
          <a:noFill/>
          <a:ln/>
        </p:spPr>
        <p:txBody>
          <a:bodyPr wrap="square" lIns="0" tIns="0" rIns="0" bIns="0" rtlCol="0" anchor="t"/>
          <a:lstStyle/>
          <a:p>
            <a:pPr indent="0" marL="0">
              <a:buNone/>
            </a:pPr>
            <a:r>
              <a:rPr lang="en-US" sz="1200" dirty="0">
                <a:solidFill>
                  <a:schemeClr val="tx2"/>
                </a:solidFill>
              </a:rPr>
              <a:t>Find, identify, clean and decode on simulated links, with the Voyager convolutional code</a:t>
            </a:r>
            <a:endParaRPr lang="en-US" sz="1200" dirty="0"/>
          </a:p>
        </p:txBody>
      </p:sp>
      <p:sp>
        <p:nvSpPr>
          <p:cNvPr id="13" name="agenda 3 card"/>
          <p:cNvSpPr/>
          <p:nvPr/>
        </p:nvSpPr>
        <p:spPr>
          <a:xfrm>
            <a:off x="457200" y="2788920"/>
            <a:ext cx="8229600" cy="731520"/>
          </a:xfrm>
          <a:prstGeom prst="roundRect">
            <a:avLst>
              <a:gd name="adj" fmla="val 10000"/>
            </a:avLst>
          </a:prstGeom>
          <a:solidFill>
            <a:schemeClr val="bg2"/>
          </a:solidFill>
          <a:ln/>
        </p:spPr>
      </p:sp>
      <p:sp>
        <p:nvSpPr>
          <p:cNvPr id="14" name="agenda 3 badge"/>
          <p:cNvSpPr/>
          <p:nvPr/>
        </p:nvSpPr>
        <p:spPr>
          <a:xfrm>
            <a:off x="640080" y="2962656"/>
            <a:ext cx="384048" cy="384048"/>
          </a:xfrm>
          <a:prstGeom prst="ellipse">
            <a:avLst/>
          </a:prstGeom>
          <a:solidFill>
            <a:schemeClr val="accent1"/>
          </a:solidFill>
          <a:ln/>
        </p:spPr>
      </p:sp>
      <p:sp>
        <p:nvSpPr>
          <p:cNvPr id="15" name="agenda 3 badge num"/>
          <p:cNvSpPr txBox="1"/>
          <p:nvPr/>
        </p:nvSpPr>
        <p:spPr>
          <a:xfrm>
            <a:off x="640080" y="296265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agenda 3 title"/>
          <p:cNvSpPr txBox="1"/>
          <p:nvPr/>
        </p:nvSpPr>
        <p:spPr>
          <a:xfrm>
            <a:off x="1234440" y="2852928"/>
            <a:ext cx="7223760" cy="329184"/>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Real telemetry frames through a hostile channel</a:t>
            </a:r>
            <a:endParaRPr lang="en-US" sz="1600" dirty="0"/>
          </a:p>
        </p:txBody>
      </p:sp>
      <p:sp>
        <p:nvSpPr>
          <p:cNvPr id="17" name="agenda 3 scope"/>
          <p:cNvSpPr txBox="1"/>
          <p:nvPr/>
        </p:nvSpPr>
        <p:spPr>
          <a:xfrm>
            <a:off x="1234440" y="3182112"/>
            <a:ext cx="7223760" cy="274320"/>
          </a:xfrm>
          <a:prstGeom prst="rect">
            <a:avLst/>
          </a:prstGeom>
          <a:noFill/>
          <a:ln/>
        </p:spPr>
        <p:txBody>
          <a:bodyPr wrap="square" lIns="0" tIns="0" rIns="0" bIns="0" rtlCol="0" anchor="t"/>
          <a:lstStyle/>
          <a:p>
            <a:pPr indent="0" marL="0">
              <a:buNone/>
            </a:pPr>
            <a:r>
              <a:rPr lang="en-US" sz="1200" dirty="0">
                <a:solidFill>
                  <a:schemeClr val="tx2"/>
                </a:solidFill>
              </a:rPr>
              <a:t>861 real SatNOGS frames sent through Doppler drift, dropouts and hops, recovered autonomously</a:t>
            </a:r>
            <a:endParaRPr lang="en-US" sz="1200" dirty="0"/>
          </a:p>
        </p:txBody>
      </p:sp>
      <p:sp>
        <p:nvSpPr>
          <p:cNvPr id="18" name="agenda 4 card"/>
          <p:cNvSpPr/>
          <p:nvPr/>
        </p:nvSpPr>
        <p:spPr>
          <a:xfrm>
            <a:off x="457200" y="3657600"/>
            <a:ext cx="8229600" cy="731520"/>
          </a:xfrm>
          <a:prstGeom prst="roundRect">
            <a:avLst>
              <a:gd name="adj" fmla="val 10000"/>
            </a:avLst>
          </a:prstGeom>
          <a:solidFill>
            <a:schemeClr val="bg2"/>
          </a:solidFill>
          <a:ln/>
        </p:spPr>
      </p:sp>
      <p:sp>
        <p:nvSpPr>
          <p:cNvPr id="19" name="agenda 4 badge"/>
          <p:cNvSpPr/>
          <p:nvPr/>
        </p:nvSpPr>
        <p:spPr>
          <a:xfrm>
            <a:off x="640080" y="3831336"/>
            <a:ext cx="384048" cy="384048"/>
          </a:xfrm>
          <a:prstGeom prst="ellipse">
            <a:avLst/>
          </a:prstGeom>
          <a:solidFill>
            <a:schemeClr val="accent1"/>
          </a:solidFill>
          <a:ln/>
        </p:spPr>
      </p:sp>
      <p:sp>
        <p:nvSpPr>
          <p:cNvPr id="20" name="agenda 4 badge num"/>
          <p:cNvSpPr txBox="1"/>
          <p:nvPr/>
        </p:nvSpPr>
        <p:spPr>
          <a:xfrm>
            <a:off x="640080" y="383133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agenda 4 title"/>
          <p:cNvSpPr txBox="1"/>
          <p:nvPr/>
        </p:nvSpPr>
        <p:spPr>
          <a:xfrm>
            <a:off x="1234440" y="3721608"/>
            <a:ext cx="7223760" cy="329184"/>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Decoding a real satellite pass</a:t>
            </a:r>
            <a:endParaRPr lang="en-US" sz="1600" dirty="0"/>
          </a:p>
        </p:txBody>
      </p:sp>
      <p:sp>
        <p:nvSpPr>
          <p:cNvPr id="22" name="agenda 4 scope"/>
          <p:cNvSpPr txBox="1"/>
          <p:nvPr/>
        </p:nvSpPr>
        <p:spPr>
          <a:xfrm>
            <a:off x="1234440" y="4050792"/>
            <a:ext cx="7223760" cy="274320"/>
          </a:xfrm>
          <a:prstGeom prst="rect">
            <a:avLst/>
          </a:prstGeom>
          <a:noFill/>
          <a:ln/>
        </p:spPr>
        <p:txBody>
          <a:bodyPr wrap="square" lIns="0" tIns="0" rIns="0" bIns="0" rtlCol="0" anchor="t"/>
          <a:lstStyle/>
          <a:p>
            <a:pPr indent="0" marL="0">
              <a:buNone/>
            </a:pPr>
            <a:r>
              <a:rPr lang="en-US" sz="1200" dirty="0">
                <a:solidFill>
                  <a:schemeClr val="tx2"/>
                </a:solidFill>
              </a:rPr>
              <a:t>OrigamiSat-2 pass recorded by a SatNOGS ground station, decoded end to end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rt label"/>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2000" b="1" dirty="0">
                <a:solidFill>
                  <a:schemeClr val="accent1"/>
                </a:solidFill>
              </a:rPr>
              <a:t>Part 1</a:t>
            </a:r>
            <a:endParaRPr lang="en-US" sz="2000" dirty="0"/>
          </a:p>
        </p:txBody>
      </p:sp>
      <p:sp>
        <p:nvSpPr>
          <p:cNvPr id="3"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Modulation classification and blind Doppler correction</a:t>
            </a:r>
            <a:endParaRPr lang="en-US" sz="3600" dirty="0"/>
          </a:p>
        </p:txBody>
      </p:sp>
      <p:sp>
        <p:nvSpPr>
          <p:cNvPr id="4" name="part scope"/>
          <p:cNvSpPr txBox="1"/>
          <p:nvPr/>
        </p:nvSpPr>
        <p:spPr>
          <a:xfrm>
            <a:off x="548640" y="2697480"/>
            <a:ext cx="8046720" cy="731520"/>
          </a:xfrm>
          <a:prstGeom prst="rect">
            <a:avLst/>
          </a:prstGeom>
          <a:noFill/>
          <a:ln/>
        </p:spPr>
        <p:txBody>
          <a:bodyPr wrap="square" lIns="0" tIns="0" rIns="0" bIns="0" rtlCol="0" anchor="t"/>
          <a:lstStyle/>
          <a:p>
            <a:pPr indent="0" marL="0">
              <a:buNone/>
            </a:pPr>
            <a:r>
              <a:rPr lang="en-US" sz="1600" dirty="0">
                <a:solidFill>
                  <a:schemeClr val="accent5"/>
                </a:solidFill>
              </a:rPr>
              <a:t>RadioML classifier, blind Doppler correction, RadioML 2018 and a command-decoding demo</a:t>
            </a:r>
            <a:endParaRPr lang="en-US" sz="1600" dirty="0"/>
          </a:p>
        </p:txBody>
      </p:sp>
      <p:sp>
        <p:nvSpPr>
          <p:cNvPr id="5" name="presenter"/>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bg1"/>
                </a:solidFill>
              </a:rPr>
              <a:t>Presented by Priyanka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art 1 slide 1" descr="A_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art 1 slide 2" descr="A_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art 1 slide 3" descr="A_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art 1 slide 4" descr="A_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art 1 slide 5" descr="A_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art 1 slide 6" descr="A_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art 1 slide 7" descr="A_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art 1 slide 8" descr="A_0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art 1 slide 9" descr="A_0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part 1 slide 10" descr="A_1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part 1 slide 11" descr="A_1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art 1 slide 12" descr="A_1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part 1 slide 13" descr="A_1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art label"/>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2000" b="1" dirty="0">
                <a:solidFill>
                  <a:schemeClr val="accent1"/>
                </a:solidFill>
              </a:rPr>
              <a:t>Part 2</a:t>
            </a:r>
            <a:endParaRPr lang="en-US" sz="2000" dirty="0"/>
          </a:p>
        </p:txBody>
      </p:sp>
      <p:sp>
        <p:nvSpPr>
          <p:cNvPr id="3"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Blind deep-space receiver</a:t>
            </a:r>
            <a:endParaRPr lang="en-US" sz="3600" dirty="0"/>
          </a:p>
        </p:txBody>
      </p:sp>
      <p:sp>
        <p:nvSpPr>
          <p:cNvPr id="4" name="part scope"/>
          <p:cNvSpPr txBox="1"/>
          <p:nvPr/>
        </p:nvSpPr>
        <p:spPr>
          <a:xfrm>
            <a:off x="548640" y="2697480"/>
            <a:ext cx="8046720" cy="731520"/>
          </a:xfrm>
          <a:prstGeom prst="rect">
            <a:avLst/>
          </a:prstGeom>
          <a:noFill/>
          <a:ln/>
        </p:spPr>
        <p:txBody>
          <a:bodyPr wrap="square" lIns="0" tIns="0" rIns="0" bIns="0" rtlCol="0" anchor="t"/>
          <a:lstStyle/>
          <a:p>
            <a:pPr indent="0" marL="0">
              <a:buNone/>
            </a:pPr>
            <a:r>
              <a:rPr lang="en-US" sz="1600" dirty="0">
                <a:solidFill>
                  <a:schemeClr val="accent5"/>
                </a:solidFill>
              </a:rPr>
              <a:t>Find, identify, clean and decode on simulated links, with the Voyager convolutional code</a:t>
            </a:r>
            <a:endParaRPr lang="en-US" sz="1600" dirty="0"/>
          </a:p>
        </p:txBody>
      </p:sp>
      <p:sp>
        <p:nvSpPr>
          <p:cNvPr id="5" name="presenter"/>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bg1"/>
                </a:solidFill>
              </a:rPr>
              <a:t>Presented by Alay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part 2 slide 1" descr="B_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part 2 slide 2" descr="B_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part 2 slide 3" descr="B_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part 2 slide 4" descr="B_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part 2 slide 5" descr="B_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part 2 slide 6" descr="B_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part 2 slide 7" descr="B_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part 2 slide 8" descr="B_0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art 2 slide 9" descr="B_0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part 2 slide 10" descr="B_1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part 2 slide 11" descr="B_1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part 2 slide 12" descr="B_1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part 2 slide 13" descr="B_1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part 2 slide 14" descr="B_1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part 2 slide 15" descr="B_1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part 2 slide 16" descr="B_1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art 2 slide 17" descr="B_1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part 2 slide 18" descr="B_1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part 2 slide 19" descr="B_1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part 2 slide 20" descr="B_2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part 2 slide 21" descr="B_2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part 2 slide 22" descr="B_2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part 2 slide 23" descr="B_2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part label"/>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2000" b="1" dirty="0">
                <a:solidFill>
                  <a:schemeClr val="accent1"/>
                </a:solidFill>
              </a:rPr>
              <a:t>Part 3</a:t>
            </a:r>
            <a:endParaRPr lang="en-US" sz="2000" dirty="0"/>
          </a:p>
        </p:txBody>
      </p:sp>
      <p:sp>
        <p:nvSpPr>
          <p:cNvPr id="3"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Real telemetry frames through a hostile channel</a:t>
            </a:r>
            <a:endParaRPr lang="en-US" sz="3600" dirty="0"/>
          </a:p>
        </p:txBody>
      </p:sp>
      <p:sp>
        <p:nvSpPr>
          <p:cNvPr id="4" name="part scope"/>
          <p:cNvSpPr txBox="1"/>
          <p:nvPr/>
        </p:nvSpPr>
        <p:spPr>
          <a:xfrm>
            <a:off x="548640" y="2697480"/>
            <a:ext cx="8046720" cy="731520"/>
          </a:xfrm>
          <a:prstGeom prst="rect">
            <a:avLst/>
          </a:prstGeom>
          <a:noFill/>
          <a:ln/>
        </p:spPr>
        <p:txBody>
          <a:bodyPr wrap="square" lIns="0" tIns="0" rIns="0" bIns="0" rtlCol="0" anchor="t"/>
          <a:lstStyle/>
          <a:p>
            <a:pPr indent="0" marL="0">
              <a:buNone/>
            </a:pPr>
            <a:r>
              <a:rPr lang="en-US" sz="1600" dirty="0">
                <a:solidFill>
                  <a:schemeClr val="accent5"/>
                </a:solidFill>
              </a:rPr>
              <a:t>861 real SatNOGS frames sent through Doppler drift, dropouts and hops, recovered autonomously</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part 3 slide 1" descr="C_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part 3 slide 2" descr="C_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part 3 slide 3" descr="C_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part 3 slide 4" descr="C_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part 3 slide 5" descr="C_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part 3 slide 6" descr="C_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part 3 slide 7" descr="C_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part label"/>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2000" b="1" dirty="0">
                <a:solidFill>
                  <a:schemeClr val="accent1"/>
                </a:solidFill>
              </a:rPr>
              <a:t>Part 4</a:t>
            </a:r>
            <a:endParaRPr lang="en-US" sz="2000" dirty="0"/>
          </a:p>
        </p:txBody>
      </p:sp>
      <p:sp>
        <p:nvSpPr>
          <p:cNvPr id="3"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Decoding a real satellite pass</a:t>
            </a:r>
            <a:endParaRPr lang="en-US" sz="3600" dirty="0"/>
          </a:p>
        </p:txBody>
      </p:sp>
      <p:sp>
        <p:nvSpPr>
          <p:cNvPr id="4" name="part scope"/>
          <p:cNvSpPr txBox="1"/>
          <p:nvPr/>
        </p:nvSpPr>
        <p:spPr>
          <a:xfrm>
            <a:off x="548640" y="2697480"/>
            <a:ext cx="8046720" cy="731520"/>
          </a:xfrm>
          <a:prstGeom prst="rect">
            <a:avLst/>
          </a:prstGeom>
          <a:noFill/>
          <a:ln/>
        </p:spPr>
        <p:txBody>
          <a:bodyPr wrap="square" lIns="0" tIns="0" rIns="0" bIns="0" rtlCol="0" anchor="t"/>
          <a:lstStyle/>
          <a:p>
            <a:pPr indent="0" marL="0">
              <a:buNone/>
            </a:pPr>
            <a:r>
              <a:rPr lang="en-US" sz="1600" dirty="0">
                <a:solidFill>
                  <a:schemeClr val="accent5"/>
                </a:solidFill>
              </a:rPr>
              <a:t>OrigamiSat-2 pass recorded by a SatNOGS ground station, decoded end to end</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part 4 slide 1" descr="D_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part 4 slide 2" descr="D_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part 4 slide 3" descr="D_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part 4 slide 4" descr="D_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part 4 slide 5" descr="D_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part 4 slide 6" descr="D_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part 4 slide 7" descr="D_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part 4 slide 8" descr="D_0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part 4 slide 9" descr="D_0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part 4 slide 10" descr="D_1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Conclusion: what we achieved</a:t>
            </a:r>
            <a:endParaRPr lang="en-US" sz="2400" dirty="0"/>
          </a:p>
        </p:txBody>
      </p:sp>
      <p:sp>
        <p:nvSpPr>
          <p:cNvPr id="3" name="conclusion 1 card"/>
          <p:cNvSpPr/>
          <p:nvPr/>
        </p:nvSpPr>
        <p:spPr>
          <a:xfrm>
            <a:off x="457200" y="1005840"/>
            <a:ext cx="1920240" cy="2880360"/>
          </a:xfrm>
          <a:prstGeom prst="roundRect">
            <a:avLst>
              <a:gd name="adj" fmla="val 3810"/>
            </a:avLst>
          </a:prstGeom>
          <a:solidFill>
            <a:schemeClr val="bg2"/>
          </a:solidFill>
          <a:ln/>
        </p:spPr>
      </p:sp>
      <p:sp>
        <p:nvSpPr>
          <p:cNvPr id="4" name="conclusion 1 label"/>
          <p:cNvSpPr txBox="1"/>
          <p:nvPr/>
        </p:nvSpPr>
        <p:spPr>
          <a:xfrm>
            <a:off x="594360" y="1097280"/>
            <a:ext cx="1645920" cy="274320"/>
          </a:xfrm>
          <a:prstGeom prst="rect">
            <a:avLst/>
          </a:prstGeom>
          <a:noFill/>
          <a:ln/>
        </p:spPr>
        <p:txBody>
          <a:bodyPr wrap="square" lIns="0" tIns="0" rIns="0" bIns="0" rtlCol="0" anchor="ctr"/>
          <a:lstStyle/>
          <a:p>
            <a:pPr indent="0" marL="0">
              <a:buNone/>
            </a:pPr>
            <a:r>
              <a:rPr lang="en-US" sz="1200" b="1" dirty="0">
                <a:solidFill>
                  <a:schemeClr val="accent2"/>
                </a:solidFill>
              </a:rPr>
              <a:t>Part 1</a:t>
            </a:r>
            <a:endParaRPr lang="en-US" sz="1200" dirty="0"/>
          </a:p>
        </p:txBody>
      </p:sp>
      <p:sp>
        <p:nvSpPr>
          <p:cNvPr id="5" name="conclusion 1 head"/>
          <p:cNvSpPr txBox="1"/>
          <p:nvPr/>
        </p:nvSpPr>
        <p:spPr>
          <a:xfrm>
            <a:off x="594360" y="1371600"/>
            <a:ext cx="164592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Classification + blind Doppler</a:t>
            </a:r>
            <a:endParaRPr lang="en-US" sz="1400" dirty="0"/>
          </a:p>
        </p:txBody>
      </p:sp>
      <p:sp>
        <p:nvSpPr>
          <p:cNvPr id="6" name="conclusion 1 list"/>
          <p:cNvSpPr txBox="1"/>
          <p:nvPr/>
        </p:nvSpPr>
        <p:spPr>
          <a:xfrm>
            <a:off x="566928" y="1965960"/>
            <a:ext cx="1719072" cy="1874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2"/>
                </a:solidFill>
              </a:rPr>
              <a:t>88% accuracy at SNR ≥ 0 dB (11 classes)</a:t>
            </a:r>
            <a:endParaRPr lang="en-US" sz="1100" dirty="0"/>
          </a:p>
          <a:p>
            <a:pPr marL="342900" indent="-342900">
              <a:spcAft>
                <a:spcPts val="400"/>
              </a:spcAft>
              <a:buSzPct val="100000"/>
              <a:buChar char="•"/>
            </a:pPr>
            <a:r>
              <a:rPr lang="en-US" sz="1100" dirty="0">
                <a:solidFill>
                  <a:schemeClr val="tx2"/>
                </a:solidFill>
              </a:rPr>
              <a:t>Doppler: 33% → 96.7%, fully blind</a:t>
            </a:r>
            <a:endParaRPr lang="en-US" sz="1100" dirty="0"/>
          </a:p>
          <a:p>
            <a:pPr marL="342900" indent="-342900">
              <a:spcAft>
                <a:spcPts val="400"/>
              </a:spcAft>
              <a:buSzPct val="100000"/>
              <a:buChar char="•"/>
            </a:pPr>
            <a:r>
              <a:rPr lang="en-US" sz="1100" dirty="0">
                <a:solidFill>
                  <a:schemeClr val="tx2"/>
                </a:solidFill>
              </a:rPr>
              <a:t>RadioML 2018: 84% on 24 classes</a:t>
            </a:r>
            <a:endParaRPr lang="en-US" sz="1100" dirty="0"/>
          </a:p>
          <a:p>
            <a:pPr marL="342900" indent="-342900">
              <a:spcAft>
                <a:spcPts val="400"/>
              </a:spcAft>
              <a:buSzPct val="100000"/>
              <a:buChar char="•"/>
            </a:pPr>
            <a:r>
              <a:rPr lang="en-US" sz="1100" dirty="0">
                <a:solidFill>
                  <a:schemeClr val="tx2"/>
                </a:solidFill>
              </a:rPr>
              <a:t>Commands decoded at 0 dB, CRC-checked</a:t>
            </a:r>
            <a:endParaRPr lang="en-US" sz="1100" dirty="0"/>
          </a:p>
        </p:txBody>
      </p:sp>
      <p:sp>
        <p:nvSpPr>
          <p:cNvPr id="7" name="conclusion 2 card"/>
          <p:cNvSpPr/>
          <p:nvPr/>
        </p:nvSpPr>
        <p:spPr>
          <a:xfrm>
            <a:off x="2560320" y="1005840"/>
            <a:ext cx="1920240" cy="2880360"/>
          </a:xfrm>
          <a:prstGeom prst="roundRect">
            <a:avLst>
              <a:gd name="adj" fmla="val 3810"/>
            </a:avLst>
          </a:prstGeom>
          <a:solidFill>
            <a:schemeClr val="bg2"/>
          </a:solidFill>
          <a:ln/>
        </p:spPr>
      </p:sp>
      <p:sp>
        <p:nvSpPr>
          <p:cNvPr id="8" name="conclusion 2 label"/>
          <p:cNvSpPr txBox="1"/>
          <p:nvPr/>
        </p:nvSpPr>
        <p:spPr>
          <a:xfrm>
            <a:off x="2697480" y="1097280"/>
            <a:ext cx="1645920" cy="274320"/>
          </a:xfrm>
          <a:prstGeom prst="rect">
            <a:avLst/>
          </a:prstGeom>
          <a:noFill/>
          <a:ln/>
        </p:spPr>
        <p:txBody>
          <a:bodyPr wrap="square" lIns="0" tIns="0" rIns="0" bIns="0" rtlCol="0" anchor="ctr"/>
          <a:lstStyle/>
          <a:p>
            <a:pPr indent="0" marL="0">
              <a:buNone/>
            </a:pPr>
            <a:r>
              <a:rPr lang="en-US" sz="1200" b="1" dirty="0">
                <a:solidFill>
                  <a:schemeClr val="accent2"/>
                </a:solidFill>
              </a:rPr>
              <a:t>Part 2</a:t>
            </a:r>
            <a:endParaRPr lang="en-US" sz="1200" dirty="0"/>
          </a:p>
        </p:txBody>
      </p:sp>
      <p:sp>
        <p:nvSpPr>
          <p:cNvPr id="9" name="conclusion 2 head"/>
          <p:cNvSpPr txBox="1"/>
          <p:nvPr/>
        </p:nvSpPr>
        <p:spPr>
          <a:xfrm>
            <a:off x="2697480" y="1371600"/>
            <a:ext cx="164592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Blind deep-space receiver</a:t>
            </a:r>
            <a:endParaRPr lang="en-US" sz="1400" dirty="0"/>
          </a:p>
        </p:txBody>
      </p:sp>
      <p:sp>
        <p:nvSpPr>
          <p:cNvPr id="10" name="conclusion 2 list"/>
          <p:cNvSpPr txBox="1"/>
          <p:nvPr/>
        </p:nvSpPr>
        <p:spPr>
          <a:xfrm>
            <a:off x="2670048" y="1965960"/>
            <a:ext cx="1719072" cy="1874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2"/>
                </a:solidFill>
              </a:rPr>
              <a:t>79% accuracy at SNR ≥ 0 dB (11 classes)</a:t>
            </a:r>
            <a:endParaRPr lang="en-US" sz="1100" dirty="0"/>
          </a:p>
          <a:p>
            <a:pPr marL="342900" indent="-342900">
              <a:spcAft>
                <a:spcPts val="400"/>
              </a:spcAft>
              <a:buSzPct val="100000"/>
              <a:buChar char="•"/>
            </a:pPr>
            <a:r>
              <a:rPr lang="en-US" sz="1100" dirty="0">
                <a:solidFill>
                  <a:schemeClr val="tx2"/>
                </a:solidFill>
              </a:rPr>
              <a:t>Blind sync within 0.3–0.6 dB of theory</a:t>
            </a:r>
            <a:endParaRPr lang="en-US" sz="1100" dirty="0"/>
          </a:p>
          <a:p>
            <a:pPr marL="342900" indent="-342900">
              <a:spcAft>
                <a:spcPts val="400"/>
              </a:spcAft>
              <a:buSzPct val="100000"/>
              <a:buChar char="•"/>
            </a:pPr>
            <a:r>
              <a:rPr lang="en-US" sz="1100" dirty="0">
                <a:solidFill>
                  <a:schemeClr val="tx2"/>
                </a:solidFill>
              </a:rPr>
              <a:t>Voyager code: 0 errors in 18,000 bits at 7 dB</a:t>
            </a:r>
            <a:endParaRPr lang="en-US" sz="1100" dirty="0"/>
          </a:p>
          <a:p>
            <a:pPr marL="342900" indent="-342900">
              <a:spcAft>
                <a:spcPts val="400"/>
              </a:spcAft>
              <a:buSzPct val="100000"/>
              <a:buChar char="•"/>
            </a:pPr>
            <a:r>
              <a:rPr lang="en-US" sz="1100" dirty="0">
                <a:solidFill>
                  <a:schemeClr val="tx2"/>
                </a:solidFill>
              </a:rPr>
              <a:t>Message decoded end to end</a:t>
            </a:r>
            <a:endParaRPr lang="en-US" sz="1100" dirty="0"/>
          </a:p>
        </p:txBody>
      </p:sp>
      <p:sp>
        <p:nvSpPr>
          <p:cNvPr id="11" name="conclusion 3 card"/>
          <p:cNvSpPr/>
          <p:nvPr/>
        </p:nvSpPr>
        <p:spPr>
          <a:xfrm>
            <a:off x="4663440" y="1005840"/>
            <a:ext cx="1920240" cy="2880360"/>
          </a:xfrm>
          <a:prstGeom prst="roundRect">
            <a:avLst>
              <a:gd name="adj" fmla="val 3810"/>
            </a:avLst>
          </a:prstGeom>
          <a:solidFill>
            <a:schemeClr val="bg2"/>
          </a:solidFill>
          <a:ln/>
        </p:spPr>
      </p:sp>
      <p:sp>
        <p:nvSpPr>
          <p:cNvPr id="12" name="conclusion 3 label"/>
          <p:cNvSpPr txBox="1"/>
          <p:nvPr/>
        </p:nvSpPr>
        <p:spPr>
          <a:xfrm>
            <a:off x="4800600" y="1097280"/>
            <a:ext cx="1645920" cy="274320"/>
          </a:xfrm>
          <a:prstGeom prst="rect">
            <a:avLst/>
          </a:prstGeom>
          <a:noFill/>
          <a:ln/>
        </p:spPr>
        <p:txBody>
          <a:bodyPr wrap="square" lIns="0" tIns="0" rIns="0" bIns="0" rtlCol="0" anchor="ctr"/>
          <a:lstStyle/>
          <a:p>
            <a:pPr indent="0" marL="0">
              <a:buNone/>
            </a:pPr>
            <a:r>
              <a:rPr lang="en-US" sz="1200" b="1" dirty="0">
                <a:solidFill>
                  <a:schemeClr val="accent2"/>
                </a:solidFill>
              </a:rPr>
              <a:t>Part 3</a:t>
            </a:r>
            <a:endParaRPr lang="en-US" sz="1200" dirty="0"/>
          </a:p>
        </p:txBody>
      </p:sp>
      <p:sp>
        <p:nvSpPr>
          <p:cNvPr id="13" name="conclusion 3 head"/>
          <p:cNvSpPr txBox="1"/>
          <p:nvPr/>
        </p:nvSpPr>
        <p:spPr>
          <a:xfrm>
            <a:off x="4800600" y="1371600"/>
            <a:ext cx="164592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Real frames, hostile channel</a:t>
            </a:r>
            <a:endParaRPr lang="en-US" sz="1400" dirty="0"/>
          </a:p>
        </p:txBody>
      </p:sp>
      <p:sp>
        <p:nvSpPr>
          <p:cNvPr id="14" name="conclusion 3 list"/>
          <p:cNvSpPr txBox="1"/>
          <p:nvPr/>
        </p:nvSpPr>
        <p:spPr>
          <a:xfrm>
            <a:off x="4773168" y="1965960"/>
            <a:ext cx="1719072" cy="1874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2"/>
                </a:solidFill>
              </a:rPr>
              <a:t>861 real SatNOGS frames</a:t>
            </a:r>
            <a:endParaRPr lang="en-US" sz="1100" dirty="0"/>
          </a:p>
          <a:p>
            <a:pPr marL="342900" indent="-342900">
              <a:spcAft>
                <a:spcPts val="400"/>
              </a:spcAft>
              <a:buSzPct val="100000"/>
              <a:buChar char="•"/>
            </a:pPr>
            <a:r>
              <a:rPr lang="en-US" sz="1100" dirty="0">
                <a:solidFill>
                  <a:schemeClr val="tx2"/>
                </a:solidFill>
              </a:rPr>
              <a:t>99.2% byte-exact at 2 dB</a:t>
            </a:r>
            <a:endParaRPr lang="en-US" sz="1100" dirty="0"/>
          </a:p>
          <a:p>
            <a:pPr marL="342900" indent="-342900">
              <a:spcAft>
                <a:spcPts val="400"/>
              </a:spcAft>
              <a:buSzPct val="100000"/>
              <a:buChar char="•"/>
            </a:pPr>
            <a:r>
              <a:rPr lang="en-US" sz="1100" dirty="0">
                <a:solidFill>
                  <a:schemeClr val="tx2"/>
                </a:solidFill>
              </a:rPr>
              <a:t>Survives drift, dropout and hop</a:t>
            </a:r>
            <a:endParaRPr lang="en-US" sz="1100" dirty="0"/>
          </a:p>
          <a:p>
            <a:pPr marL="342900" indent="-342900">
              <a:spcAft>
                <a:spcPts val="400"/>
              </a:spcAft>
              <a:buSzPct val="100000"/>
              <a:buChar char="•"/>
            </a:pPr>
            <a:r>
              <a:rPr lang="en-US" sz="1100" dirty="0">
                <a:solidFill>
                  <a:schemeClr val="tx2"/>
                </a:solidFill>
              </a:rPr>
              <a:t>IQNet: BPSK, 95% confident</a:t>
            </a:r>
            <a:endParaRPr lang="en-US" sz="1100" dirty="0"/>
          </a:p>
        </p:txBody>
      </p:sp>
      <p:sp>
        <p:nvSpPr>
          <p:cNvPr id="15" name="conclusion 4 card"/>
          <p:cNvSpPr/>
          <p:nvPr/>
        </p:nvSpPr>
        <p:spPr>
          <a:xfrm>
            <a:off x="6766560" y="1005840"/>
            <a:ext cx="1920240" cy="2880360"/>
          </a:xfrm>
          <a:prstGeom prst="roundRect">
            <a:avLst>
              <a:gd name="adj" fmla="val 3810"/>
            </a:avLst>
          </a:prstGeom>
          <a:solidFill>
            <a:schemeClr val="bg2"/>
          </a:solidFill>
          <a:ln/>
        </p:spPr>
      </p:sp>
      <p:sp>
        <p:nvSpPr>
          <p:cNvPr id="16" name="conclusion 4 label"/>
          <p:cNvSpPr txBox="1"/>
          <p:nvPr/>
        </p:nvSpPr>
        <p:spPr>
          <a:xfrm>
            <a:off x="6903720" y="1097280"/>
            <a:ext cx="1645920" cy="274320"/>
          </a:xfrm>
          <a:prstGeom prst="rect">
            <a:avLst/>
          </a:prstGeom>
          <a:noFill/>
          <a:ln/>
        </p:spPr>
        <p:txBody>
          <a:bodyPr wrap="square" lIns="0" tIns="0" rIns="0" bIns="0" rtlCol="0" anchor="ctr"/>
          <a:lstStyle/>
          <a:p>
            <a:pPr indent="0" marL="0">
              <a:buNone/>
            </a:pPr>
            <a:r>
              <a:rPr lang="en-US" sz="1200" b="1" dirty="0">
                <a:solidFill>
                  <a:schemeClr val="accent2"/>
                </a:solidFill>
              </a:rPr>
              <a:t>Part 4</a:t>
            </a:r>
            <a:endParaRPr lang="en-US" sz="1200" dirty="0"/>
          </a:p>
        </p:txBody>
      </p:sp>
      <p:sp>
        <p:nvSpPr>
          <p:cNvPr id="17" name="conclusion 4 head"/>
          <p:cNvSpPr txBox="1"/>
          <p:nvPr/>
        </p:nvSpPr>
        <p:spPr>
          <a:xfrm>
            <a:off x="6903720" y="1371600"/>
            <a:ext cx="164592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Real satellite pass</a:t>
            </a:r>
            <a:endParaRPr lang="en-US" sz="1400" dirty="0"/>
          </a:p>
        </p:txBody>
      </p:sp>
      <p:sp>
        <p:nvSpPr>
          <p:cNvPr id="18" name="conclusion 4 list"/>
          <p:cNvSpPr txBox="1"/>
          <p:nvPr/>
        </p:nvSpPr>
        <p:spPr>
          <a:xfrm>
            <a:off x="6876288" y="1965960"/>
            <a:ext cx="1719072" cy="1874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2"/>
                </a:solidFill>
              </a:rPr>
              <a:t>OrigamiSat-2, real SatNOGS audio</a:t>
            </a:r>
            <a:endParaRPr lang="en-US" sz="1100" dirty="0"/>
          </a:p>
          <a:p>
            <a:pPr marL="342900" indent="-342900">
              <a:spcAft>
                <a:spcPts val="400"/>
              </a:spcAft>
              <a:buSzPct val="100000"/>
              <a:buChar char="•"/>
            </a:pPr>
            <a:r>
              <a:rPr lang="en-US" sz="1100" dirty="0">
                <a:solidFill>
                  <a:schemeClr val="tx2"/>
                </a:solidFill>
              </a:rPr>
              <a:t>71 AX.25 frames, all CRC-valid</a:t>
            </a:r>
            <a:endParaRPr lang="en-US" sz="1100" dirty="0"/>
          </a:p>
          <a:p>
            <a:pPr marL="342900" indent="-342900">
              <a:spcAft>
                <a:spcPts val="400"/>
              </a:spcAft>
              <a:buSzPct val="100000"/>
              <a:buChar char="•"/>
            </a:pPr>
            <a:r>
              <a:rPr lang="en-US" sz="1100" dirty="0">
                <a:solidFill>
                  <a:schemeClr val="tx2"/>
                </a:solidFill>
              </a:rPr>
              <a:t>67 of 75 main packets (89%)</a:t>
            </a:r>
            <a:endParaRPr lang="en-US" sz="1100" dirty="0"/>
          </a:p>
          <a:p>
            <a:pPr marL="342900" indent="-342900">
              <a:spcAft>
                <a:spcPts val="400"/>
              </a:spcAft>
              <a:buSzPct val="100000"/>
              <a:buChar char="•"/>
            </a:pPr>
            <a:r>
              <a:rPr lang="en-US" sz="1100" dirty="0">
                <a:solidFill>
                  <a:schemeClr val="tx2"/>
                </a:solidFill>
              </a:rPr>
              <a:t>355 s decoded in 27 s, no tuning</a:t>
            </a:r>
            <a:endParaRPr lang="en-US" sz="1100" dirty="0"/>
          </a:p>
        </p:txBody>
      </p:sp>
      <p:sp>
        <p:nvSpPr>
          <p:cNvPr id="19" name="conclusion banner"/>
          <p:cNvSpPr/>
          <p:nvPr/>
        </p:nvSpPr>
        <p:spPr>
          <a:xfrm>
            <a:off x="457200" y="4023360"/>
            <a:ext cx="8229600" cy="658368"/>
          </a:xfrm>
          <a:prstGeom prst="roundRect">
            <a:avLst>
              <a:gd name="adj" fmla="val 11111"/>
            </a:avLst>
          </a:prstGeom>
          <a:solidFill>
            <a:schemeClr val="accent6"/>
          </a:solidFill>
          <a:ln/>
        </p:spPr>
      </p:sp>
      <p:sp>
        <p:nvSpPr>
          <p:cNvPr id="20" name="conclusion banner text"/>
          <p:cNvSpPr txBox="1"/>
          <p:nvPr/>
        </p:nvSpPr>
        <p:spPr>
          <a:xfrm>
            <a:off x="640080" y="4023360"/>
            <a:ext cx="7863840" cy="658368"/>
          </a:xfrm>
          <a:prstGeom prst="rect">
            <a:avLst/>
          </a:prstGeom>
          <a:noFill/>
          <a:ln/>
        </p:spPr>
        <p:txBody>
          <a:bodyPr wrap="square" lIns="0" tIns="0" rIns="0" bIns="0" rtlCol="0" anchor="ctr"/>
          <a:lstStyle/>
          <a:p>
            <a:pPr indent="0" marL="0">
              <a:buNone/>
            </a:pPr>
            <a:r>
              <a:rPr lang="en-US" sz="1400" b="1" dirty="0">
                <a:solidFill>
                  <a:schemeClr val="bg1"/>
                </a:solidFill>
              </a:rPr>
              <a:t>Together: find, identify, clean and decode, from simulated benchmarks to a real satellite pass, with no human tuning.</a:t>
            </a:r>
            <a:endParaRPr lang="en-US" sz="1400" dirty="0"/>
          </a:p>
        </p:txBody>
      </p:sp>
    </p:spTree>
  </p:cSld>
  <p:clrMapOvr>
    <a:masterClrMapping/>
  </p:clrMapOvr>
</p:sld>
</file>

<file path=ppt/theme/theme1.xml><?xml version="1.0" encoding="utf-8"?>
<a:theme xmlns:a="http://schemas.openxmlformats.org/drawingml/2006/main" name="Rover Rangers Track 1">
  <a:themeElements>
    <a:clrScheme name="Rover Rangers Track 1">
      <a:dk1>
        <a:srgbClr val="0B1B33"/>
      </a:dk1>
      <a:lt1>
        <a:srgbClr val="FFFFFF"/>
      </a:lt1>
      <a:dk2>
        <a:srgbClr val="3A4A63"/>
      </a:dk2>
      <a:lt2>
        <a:srgbClr val="EEF2F8"/>
      </a:lt2>
      <a:accent1>
        <a:srgbClr val="F5A524"/>
      </a:accent1>
      <a:accent2>
        <a:srgbClr val="2BB3C0"/>
      </a:accent2>
      <a:accent3>
        <a:srgbClr val="E4572E"/>
      </a:accent3>
      <a:accent4>
        <a:srgbClr val="3FA34D"/>
      </a:accent4>
      <a:accent5>
        <a:srgbClr val="8A9BB5"/>
      </a:accent5>
      <a:accent6>
        <a:srgbClr val="14284A"/>
      </a:accent6>
      <a:hlink>
        <a:srgbClr val="2BB3C0"/>
      </a:hlink>
      <a:folHlink>
        <a:srgbClr val="8A9BB5"/>
      </a:folHlink>
    </a:clrScheme>
    <a:fontScheme name="Rover Rangers Track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Rover Rangers: Track 1 combined deck</dc:title>
  <dc:subject>PptxGenJS Presentation</dc:subject>
  <dc:creator>Team Rover Rangers</dc:creator>
  <cp:lastModifiedBy>Team Rover Rangers</cp:lastModifiedBy>
  <cp:revision>1</cp:revision>
  <dcterms:created xsi:type="dcterms:W3CDTF">2026-10-03T19:04:49Z</dcterms:created>
  <dcterms:modified xsi:type="dcterms:W3CDTF">2026-10-03T19:04:49Z</dcterms:modified>
</cp:coreProperties>
</file>